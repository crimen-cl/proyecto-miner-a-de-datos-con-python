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2E42CC-CD0D-4433-912B-76053FA0896B}">
  <a:tblStyle styleId="{7F2E42CC-CD0D-4433-912B-76053FA0896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Buenas tardes. Hoy presento el proyecto final, centrado en resolver un problema real de la industria bancaria utilizando Minería de Datos. El objetivo es transformar datos brutos en decisiones estratégicas para optimizar la captación de depósitos a plazo, siguiendo rigurosamente la metodología KDD.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a1eb2a96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a1eb2a96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El problema de negocio es claro: el banco realiza miles de llamadas ineficientes. El objetivo KDD no es solo predecir quién dirá que 'sí', sino entender el perfil del cliente ideal para reducir costos. Para esto, aplicamos el flujo completo de Descubrimiento de Conocimiento en Bases de Datos (KDD), pasando desde la limpieza hasta la interpretación de modelos avanzados.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a1eb2a96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a1eb2a96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la fase de selección y exploración, trabajamos con 45 mil registros históricos. Como ven en el gráfico, nos enfrentamos a un desbalance severo: solo el 11.7% de los clientes acepta el producto. Esto es crítico, porque nos obliga a usar métricas de evaluación complejas como ROC-AUC en lugar de la tasa de acierto simple. Además, detectamos variables 'sucias' como los días de contacto, que requerían intervención manual.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9a1eb2a96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9a1eb2a96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Para que los algoritmos funcionen, transformamos los datos. Primero, corregimos la variable de 'días de contacto' creando una nueva variable binaria que distingue clientes nuevos de recurrentes. Segundo, aplicamos One-Hot Encoding para convertir todo el texto (como profesión o estado civil) en números. Esto elevó la complejidad de nuestros datos a 44 dimensiones, dejándolos listos para la minería.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a1eb2a96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a1eb2a96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Entrando a la minería de datos, primero aplicamos Aprendizaje No Supervisado. Usamos PCA para reducir la dimensionalidad. El gráfico nos muestra que necesitamos 31 componentes para explicar el 90% de la información. ¿Qué significa esto? Que el comportamiento del cliente es complejo y multifactorial; no basta con saber su edad o saldo para entenderlo, se requiere una visión holística.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a1eb2a96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a1eb2a96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dk1"/>
                </a:solidFill>
              </a:rPr>
              <a:t>Luego segmentamos a los clientes usando K-Means. Aquí encontramos el 'insight' más valioso del negocio: el </a:t>
            </a:r>
            <a:r>
              <a:rPr b="1" lang="es-419">
                <a:solidFill>
                  <a:schemeClr val="dk1"/>
                </a:solidFill>
              </a:rPr>
              <a:t>Cluster 0</a:t>
            </a:r>
            <a:r>
              <a:rPr lang="es-419">
                <a:solidFill>
                  <a:schemeClr val="dk1"/>
                </a:solidFill>
              </a:rPr>
              <a:t>. Si miran la tabla, este grupo tiene el saldo promedio más alto (1.556 euros) y una tasa de aceptación del 23%, casi cinco veces superior al resto. Identificar a este grupo nos permite enfocar los recursos donde realmente hay retorno.</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9a1eb2a96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9a1eb2a96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419">
                <a:solidFill>
                  <a:schemeClr val="dk1"/>
                </a:solidFill>
              </a:rPr>
              <a:t>Para la predicción, entrenamos tres modelos. El </a:t>
            </a:r>
            <a:r>
              <a:rPr b="1" lang="es-419">
                <a:solidFill>
                  <a:schemeClr val="dk1"/>
                </a:solidFill>
              </a:rPr>
              <a:t>Random Forest</a:t>
            </a:r>
            <a:r>
              <a:rPr lang="es-419">
                <a:solidFill>
                  <a:schemeClr val="dk1"/>
                </a:solidFill>
              </a:rPr>
              <a:t> fue el ganador absoluto con un ROC-AUC de </a:t>
            </a:r>
            <a:r>
              <a:rPr b="1" lang="es-419">
                <a:solidFill>
                  <a:schemeClr val="dk1"/>
                </a:solidFill>
              </a:rPr>
              <a:t>0.9250</a:t>
            </a:r>
            <a:r>
              <a:rPr lang="es-419">
                <a:solidFill>
                  <a:schemeClr val="dk1"/>
                </a:solidFill>
              </a:rPr>
              <a:t>, superando al GAM y a la regresión logística.</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s-419">
                <a:solidFill>
                  <a:schemeClr val="dk1"/>
                </a:solidFill>
              </a:rPr>
              <a:t>Pero no nos quedamos solo con el número. Analizamos la 'Importancia de Variables' del Random Forest y descubrimos que las variables determinantes son la </a:t>
            </a:r>
            <a:r>
              <a:rPr b="1" lang="es-419">
                <a:solidFill>
                  <a:schemeClr val="dk1"/>
                </a:solidFill>
              </a:rPr>
              <a:t>duración de la llamada</a:t>
            </a:r>
            <a:r>
              <a:rPr lang="es-419">
                <a:solidFill>
                  <a:schemeClr val="dk1"/>
                </a:solidFill>
              </a:rPr>
              <a:t> y el </a:t>
            </a:r>
            <a:r>
              <a:rPr b="1" lang="es-419">
                <a:solidFill>
                  <a:schemeClr val="dk1"/>
                </a:solidFill>
              </a:rPr>
              <a:t>saldo de la cuenta</a:t>
            </a:r>
            <a:r>
              <a:rPr lang="es-419">
                <a:solidFill>
                  <a:schemeClr val="dk1"/>
                </a:solidFill>
              </a:rPr>
              <a:t>. Esto es muy importante, porque nos confirma que el modelo está aprendiendo patrones lógicos de negocio y no ruido estadístico, lo que nos da confianza para implementarlo.</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9a1eb2a96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9a1eb2a96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Concluimos transformando los datos en acción. No proponemos llamar a todos. Nuestra estrategia es híbrida: filtrar primero a los clientes del 'Cluster 0' y luego aplicar el Random Forest para priorizar. Esto garantiza contactar a clientes con dinero y alta probabilidad de compra. Todo el código está documentado en nuestro repositorio GIT. Muchas gracias.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s-419" sz="3580"/>
              <a:t>Optimización de Campañas de Marketing Bancario: Un Enfoque KDD.</a:t>
            </a:r>
            <a:endParaRPr sz="358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a:t>Minería de Datos con Python - Trabajo Final.</a:t>
            </a:r>
            <a:endParaRPr/>
          </a:p>
        </p:txBody>
      </p:sp>
      <p:sp>
        <p:nvSpPr>
          <p:cNvPr id="56" name="Google Shape;56;p13"/>
          <p:cNvSpPr txBox="1"/>
          <p:nvPr>
            <p:ph idx="1" type="subTitle"/>
          </p:nvPr>
        </p:nvSpPr>
        <p:spPr>
          <a:xfrm>
            <a:off x="444400" y="4159075"/>
            <a:ext cx="8520600" cy="7926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s-419" sz="1800"/>
              <a:t>Alumno: Cristian Méndez Fuenzalida</a:t>
            </a:r>
            <a:endParaRPr sz="1800"/>
          </a:p>
          <a:p>
            <a:pPr indent="0" lvl="0" marL="0" rtl="0" algn="ctr">
              <a:spcBef>
                <a:spcPts val="0"/>
              </a:spcBef>
              <a:spcAft>
                <a:spcPts val="0"/>
              </a:spcAft>
              <a:buNone/>
            </a:pPr>
            <a:r>
              <a:rPr lang="es-419" sz="1800"/>
              <a:t>Profesor: Pedro Luiz Ramos</a:t>
            </a:r>
            <a:br>
              <a:rPr lang="es-419" sz="1800"/>
            </a:br>
            <a:r>
              <a:rPr lang="es-419" sz="1800"/>
              <a:t>26 de Noviembre 2025</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Objetivos del Negocio</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b="1" lang="es-419" sz="1600">
                <a:solidFill>
                  <a:schemeClr val="dk1"/>
                </a:solidFill>
              </a:rPr>
              <a:t>Contexto:</a:t>
            </a:r>
            <a:r>
              <a:rPr lang="es-419" sz="1600">
                <a:solidFill>
                  <a:schemeClr val="dk1"/>
                </a:solidFill>
              </a:rPr>
              <a:t> Banco Portugués con baja eficiencia en telemarketing.</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Problema:</a:t>
            </a:r>
            <a:r>
              <a:rPr lang="es-419" sz="1600">
                <a:solidFill>
                  <a:schemeClr val="dk1"/>
                </a:solidFill>
              </a:rPr>
              <a:t> Exceso de llamadas a clientes no interesados (costos operativos altos).</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Objetivo KDD:</a:t>
            </a:r>
            <a:endParaRPr b="1" sz="1600">
              <a:solidFill>
                <a:schemeClr val="dk1"/>
              </a:solidFill>
            </a:endParaRPr>
          </a:p>
          <a:p>
            <a:pPr indent="-330200" lvl="1" marL="914400" rtl="0" algn="l">
              <a:spcBef>
                <a:spcPts val="0"/>
              </a:spcBef>
              <a:spcAft>
                <a:spcPts val="0"/>
              </a:spcAft>
              <a:buClr>
                <a:schemeClr val="dk1"/>
              </a:buClr>
              <a:buSzPts val="1600"/>
              <a:buChar char="○"/>
            </a:pPr>
            <a:r>
              <a:rPr lang="es-419" sz="1600">
                <a:solidFill>
                  <a:schemeClr val="dk1"/>
                </a:solidFill>
              </a:rPr>
              <a:t>Identificar patrones de clientes propensos a suscribir (</a:t>
            </a:r>
            <a:r>
              <a:rPr b="1" lang="es-419" sz="1600">
                <a:solidFill>
                  <a:schemeClr val="dk1"/>
                </a:solidFill>
              </a:rPr>
              <a:t>Term Deposit</a:t>
            </a:r>
            <a:r>
              <a:rPr lang="es-419" sz="1600">
                <a:solidFill>
                  <a:schemeClr val="dk1"/>
                </a:solidFill>
              </a:rPr>
              <a:t>).</a:t>
            </a:r>
            <a:endParaRPr sz="1600">
              <a:solidFill>
                <a:schemeClr val="dk1"/>
              </a:solidFill>
            </a:endParaRPr>
          </a:p>
          <a:p>
            <a:pPr indent="-330200" lvl="1" marL="914400" rtl="0" algn="l">
              <a:spcBef>
                <a:spcPts val="0"/>
              </a:spcBef>
              <a:spcAft>
                <a:spcPts val="0"/>
              </a:spcAft>
              <a:buClr>
                <a:schemeClr val="dk1"/>
              </a:buClr>
              <a:buSzPts val="1600"/>
              <a:buChar char="○"/>
            </a:pPr>
            <a:r>
              <a:rPr lang="es-419" sz="1600">
                <a:solidFill>
                  <a:schemeClr val="dk1"/>
                </a:solidFill>
              </a:rPr>
              <a:t>Segmentar la cartera de clientes.</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Metodología:</a:t>
            </a:r>
            <a:r>
              <a:rPr lang="es-419" sz="1600">
                <a:solidFill>
                  <a:schemeClr val="dk1"/>
                </a:solidFill>
              </a:rPr>
              <a:t> Proceso KDD (Selección -&gt; Preprocesamiento </a:t>
            </a:r>
            <a:r>
              <a:rPr lang="es-419" sz="1600">
                <a:solidFill>
                  <a:schemeClr val="dk1"/>
                </a:solidFill>
              </a:rPr>
              <a:t>-&gt;</a:t>
            </a:r>
            <a:r>
              <a:rPr lang="es-419" sz="1600">
                <a:solidFill>
                  <a:schemeClr val="dk1"/>
                </a:solidFill>
              </a:rPr>
              <a:t> Transformación </a:t>
            </a:r>
            <a:r>
              <a:rPr lang="es-419" sz="1600">
                <a:solidFill>
                  <a:schemeClr val="dk1"/>
                </a:solidFill>
              </a:rPr>
              <a:t>-&gt;</a:t>
            </a:r>
            <a:r>
              <a:rPr lang="es-419" sz="1600">
                <a:solidFill>
                  <a:schemeClr val="dk1"/>
                </a:solidFill>
              </a:rPr>
              <a:t> Minería </a:t>
            </a:r>
            <a:r>
              <a:rPr lang="es-419" sz="1600">
                <a:solidFill>
                  <a:schemeClr val="dk1"/>
                </a:solidFill>
              </a:rPr>
              <a:t>-&gt;</a:t>
            </a:r>
            <a:r>
              <a:rPr lang="es-419" sz="1600">
                <a:solidFill>
                  <a:schemeClr val="dk1"/>
                </a:solidFill>
              </a:rPr>
              <a:t> Evaluación)</a:t>
            </a:r>
            <a:endParaRPr b="1" sz="2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 Selección y Análisis Exploratorio</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chemeClr val="dk1"/>
              </a:buClr>
              <a:buSzPts val="1400"/>
              <a:buChar char="●"/>
            </a:pPr>
            <a:r>
              <a:rPr b="1" lang="es-419" sz="1400">
                <a:solidFill>
                  <a:schemeClr val="dk1"/>
                </a:solidFill>
              </a:rPr>
              <a:t>Dataset:</a:t>
            </a:r>
            <a:r>
              <a:rPr lang="es-419" sz="1400">
                <a:solidFill>
                  <a:schemeClr val="dk1"/>
                </a:solidFill>
              </a:rPr>
              <a:t> 'Bank Marketing' (UCI Repository).</a:t>
            </a:r>
            <a:endParaRPr sz="1400">
              <a:solidFill>
                <a:schemeClr val="dk1"/>
              </a:solidFill>
            </a:endParaRPr>
          </a:p>
          <a:p>
            <a:pPr indent="-317500" lvl="1" marL="914400" rtl="0" algn="l">
              <a:spcBef>
                <a:spcPts val="0"/>
              </a:spcBef>
              <a:spcAft>
                <a:spcPts val="0"/>
              </a:spcAft>
              <a:buClr>
                <a:schemeClr val="dk1"/>
              </a:buClr>
              <a:buSzPts val="1400"/>
              <a:buChar char="○"/>
            </a:pPr>
            <a:r>
              <a:rPr lang="es-419">
                <a:solidFill>
                  <a:schemeClr val="dk1"/>
                </a:solidFill>
              </a:rPr>
              <a:t>45.211 registros, 17 variables iniciales.</a:t>
            </a:r>
            <a:endParaRPr sz="1400">
              <a:solidFill>
                <a:schemeClr val="dk1"/>
              </a:solidFill>
            </a:endParaRPr>
          </a:p>
          <a:p>
            <a:pPr indent="-317500" lvl="0" marL="457200" rtl="0" algn="l">
              <a:spcBef>
                <a:spcPts val="0"/>
              </a:spcBef>
              <a:spcAft>
                <a:spcPts val="0"/>
              </a:spcAft>
              <a:buClr>
                <a:schemeClr val="dk1"/>
              </a:buClr>
              <a:buSzPts val="1400"/>
              <a:buChar char="●"/>
            </a:pPr>
            <a:r>
              <a:rPr b="1" lang="es-419" sz="1400">
                <a:solidFill>
                  <a:schemeClr val="dk1"/>
                </a:solidFill>
              </a:rPr>
              <a:t>Hallazgos del EDA:</a:t>
            </a:r>
            <a:endParaRPr b="1" sz="1400">
              <a:solidFill>
                <a:schemeClr val="dk1"/>
              </a:solidFill>
            </a:endParaRPr>
          </a:p>
          <a:p>
            <a:pPr indent="-317500" lvl="1" marL="914400" rtl="0" algn="l">
              <a:spcBef>
                <a:spcPts val="0"/>
              </a:spcBef>
              <a:spcAft>
                <a:spcPts val="0"/>
              </a:spcAft>
              <a:buClr>
                <a:schemeClr val="dk1"/>
              </a:buClr>
              <a:buSzPts val="1400"/>
              <a:buChar char="○"/>
            </a:pPr>
            <a:r>
              <a:rPr b="1" lang="es-419">
                <a:solidFill>
                  <a:schemeClr val="dk1"/>
                </a:solidFill>
              </a:rPr>
              <a:t>Desbalance Crítico:</a:t>
            </a:r>
            <a:r>
              <a:rPr lang="es-419">
                <a:solidFill>
                  <a:schemeClr val="dk1"/>
                </a:solidFill>
              </a:rPr>
              <a:t> </a:t>
            </a:r>
            <a:r>
              <a:rPr lang="es-419">
                <a:solidFill>
                  <a:schemeClr val="dk1"/>
                </a:solidFill>
              </a:rPr>
              <a:t>Sólo</a:t>
            </a:r>
            <a:r>
              <a:rPr lang="es-419">
                <a:solidFill>
                  <a:schemeClr val="dk1"/>
                </a:solidFill>
              </a:rPr>
              <a:t> 11.7% de éxito.</a:t>
            </a:r>
            <a:endParaRPr>
              <a:solidFill>
                <a:schemeClr val="dk1"/>
              </a:solidFill>
            </a:endParaRPr>
          </a:p>
          <a:p>
            <a:pPr indent="-317500" lvl="1" marL="914400" rtl="0" algn="l">
              <a:spcBef>
                <a:spcPts val="0"/>
              </a:spcBef>
              <a:spcAft>
                <a:spcPts val="0"/>
              </a:spcAft>
              <a:buClr>
                <a:schemeClr val="dk1"/>
              </a:buClr>
              <a:buSzPts val="1400"/>
              <a:buChar char="○"/>
            </a:pPr>
            <a:r>
              <a:rPr b="1" lang="es-419">
                <a:solidFill>
                  <a:schemeClr val="dk1"/>
                </a:solidFill>
              </a:rPr>
              <a:t>Anomalía en pdays:</a:t>
            </a:r>
            <a:r>
              <a:rPr lang="es-419">
                <a:solidFill>
                  <a:schemeClr val="dk1"/>
                </a:solidFill>
              </a:rPr>
              <a:t> Valor -1 indicaba 'no contactado', requiriendo corrección.</a:t>
            </a:r>
            <a:endParaRPr sz="1700"/>
          </a:p>
        </p:txBody>
      </p:sp>
      <p:pic>
        <p:nvPicPr>
          <p:cNvPr id="69" name="Google Shape;69;p15"/>
          <p:cNvPicPr preferRelativeResize="0"/>
          <p:nvPr/>
        </p:nvPicPr>
        <p:blipFill>
          <a:blip r:embed="rId3">
            <a:alphaModFix/>
          </a:blip>
          <a:stretch>
            <a:fillRect/>
          </a:stretch>
        </p:blipFill>
        <p:spPr>
          <a:xfrm>
            <a:off x="2689225" y="2571749"/>
            <a:ext cx="3765550" cy="2487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Preprocesamiento y Transformación</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Clr>
                <a:schemeClr val="dk1"/>
              </a:buClr>
              <a:buSzPts val="1600"/>
              <a:buChar char="●"/>
            </a:pPr>
            <a:r>
              <a:rPr b="1" lang="es-419" sz="1600">
                <a:solidFill>
                  <a:schemeClr val="dk1"/>
                </a:solidFill>
              </a:rPr>
              <a:t>Limpieza:</a:t>
            </a:r>
            <a:r>
              <a:rPr lang="es-419" sz="1600">
                <a:solidFill>
                  <a:schemeClr val="dk1"/>
                </a:solidFill>
              </a:rPr>
              <a:t> Dataset sin nulos (0 missing values).</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Ingeniería de Características (Feature Engineering):</a:t>
            </a:r>
            <a:endParaRPr b="1" sz="1600">
              <a:solidFill>
                <a:schemeClr val="dk1"/>
              </a:solidFill>
            </a:endParaRPr>
          </a:p>
          <a:p>
            <a:pPr indent="-330200" lvl="1" marL="914400" rtl="0" algn="l">
              <a:spcBef>
                <a:spcPts val="0"/>
              </a:spcBef>
              <a:spcAft>
                <a:spcPts val="0"/>
              </a:spcAft>
              <a:buClr>
                <a:schemeClr val="dk1"/>
              </a:buClr>
              <a:buSzPts val="1600"/>
              <a:buChar char="○"/>
            </a:pPr>
            <a:r>
              <a:rPr lang="es-419" sz="1600">
                <a:solidFill>
                  <a:schemeClr val="dk1"/>
                </a:solidFill>
              </a:rPr>
              <a:t>Creación de variable binaria: </a:t>
            </a:r>
            <a:r>
              <a:rPr b="1" lang="es-419" sz="1600">
                <a:solidFill>
                  <a:schemeClr val="dk1"/>
                </a:solidFill>
              </a:rPr>
              <a:t>fue_contactado_antes</a:t>
            </a:r>
            <a:r>
              <a:rPr lang="es-419" sz="1600">
                <a:solidFill>
                  <a:schemeClr val="dk1"/>
                </a:solidFill>
              </a:rPr>
              <a:t> (Corrige el error de pdays).</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Transformación Numérica:</a:t>
            </a:r>
            <a:endParaRPr b="1" sz="1600">
              <a:solidFill>
                <a:schemeClr val="dk1"/>
              </a:solidFill>
            </a:endParaRPr>
          </a:p>
          <a:p>
            <a:pPr indent="-330200" lvl="1" marL="914400" rtl="0" algn="l">
              <a:spcBef>
                <a:spcPts val="0"/>
              </a:spcBef>
              <a:spcAft>
                <a:spcPts val="0"/>
              </a:spcAft>
              <a:buClr>
                <a:schemeClr val="dk1"/>
              </a:buClr>
              <a:buSzPts val="1600"/>
              <a:buChar char="○"/>
            </a:pPr>
            <a:r>
              <a:rPr b="1" lang="es-419" sz="1600">
                <a:solidFill>
                  <a:schemeClr val="dk1"/>
                </a:solidFill>
              </a:rPr>
              <a:t>One-Hot Encoding:</a:t>
            </a:r>
            <a:r>
              <a:rPr lang="es-419" sz="1600">
                <a:solidFill>
                  <a:schemeClr val="dk1"/>
                </a:solidFill>
              </a:rPr>
              <a:t> Conversión de variables categóricas (ej: 'Estado Civil', 'Trabajo') a numéricas.</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Resultado:</a:t>
            </a:r>
            <a:r>
              <a:rPr lang="es-419" sz="1600">
                <a:solidFill>
                  <a:schemeClr val="dk1"/>
                </a:solidFill>
              </a:rPr>
              <a:t> Dimensionalidad aumentó de </a:t>
            </a:r>
            <a:r>
              <a:rPr b="1" lang="es-419" sz="1600">
                <a:solidFill>
                  <a:schemeClr val="dk1"/>
                </a:solidFill>
              </a:rPr>
              <a:t>18 a 44 variables</a:t>
            </a:r>
            <a:r>
              <a:rPr lang="es-419" sz="1600">
                <a:solidFill>
                  <a:schemeClr val="dk1"/>
                </a:solidFill>
              </a:rPr>
              <a:t>.</a:t>
            </a:r>
            <a:endParaRPr sz="2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Minería de Datos - No Supervisado</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Clr>
                <a:schemeClr val="dk1"/>
              </a:buClr>
              <a:buSzPts val="1600"/>
              <a:buChar char="●"/>
            </a:pPr>
            <a:r>
              <a:rPr b="1" lang="es-419" sz="1600">
                <a:solidFill>
                  <a:schemeClr val="dk1"/>
                </a:solidFill>
              </a:rPr>
              <a:t>Técnica:</a:t>
            </a:r>
            <a:r>
              <a:rPr lang="es-419" sz="1600">
                <a:solidFill>
                  <a:schemeClr val="dk1"/>
                </a:solidFill>
              </a:rPr>
              <a:t> PCA (Análisis de Componentes Principales).</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Resultado:</a:t>
            </a:r>
            <a:endParaRPr b="1" sz="1600">
              <a:solidFill>
                <a:schemeClr val="dk1"/>
              </a:solidFill>
            </a:endParaRPr>
          </a:p>
          <a:p>
            <a:pPr indent="-330200" lvl="1" marL="914400" rtl="0" algn="l">
              <a:spcBef>
                <a:spcPts val="0"/>
              </a:spcBef>
              <a:spcAft>
                <a:spcPts val="0"/>
              </a:spcAft>
              <a:buClr>
                <a:schemeClr val="dk1"/>
              </a:buClr>
              <a:buSzPts val="1600"/>
              <a:buChar char="○"/>
            </a:pPr>
            <a:r>
              <a:rPr lang="es-419" sz="1600">
                <a:solidFill>
                  <a:schemeClr val="dk1"/>
                </a:solidFill>
              </a:rPr>
              <a:t>Se requieren </a:t>
            </a:r>
            <a:r>
              <a:rPr b="1" lang="es-419" sz="1600">
                <a:solidFill>
                  <a:schemeClr val="dk1"/>
                </a:solidFill>
              </a:rPr>
              <a:t>31 componentes</a:t>
            </a:r>
            <a:r>
              <a:rPr lang="es-419" sz="1600">
                <a:solidFill>
                  <a:schemeClr val="dk1"/>
                </a:solidFill>
              </a:rPr>
              <a:t> para explicar el 90% de la varianza.</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Interpretación:</a:t>
            </a:r>
            <a:r>
              <a:rPr lang="es-419" sz="1600">
                <a:solidFill>
                  <a:schemeClr val="dk1"/>
                </a:solidFill>
              </a:rPr>
              <a:t> Alta complejidad en el comportamiento del cliente (no hay pocas variables dominantes).</a:t>
            </a:r>
            <a:endParaRPr b="1" sz="2100">
              <a:solidFill>
                <a:schemeClr val="dk1"/>
              </a:solidFill>
            </a:endParaRPr>
          </a:p>
          <a:p>
            <a:pPr indent="0" lvl="0" marL="0" rtl="0" algn="l">
              <a:spcBef>
                <a:spcPts val="1200"/>
              </a:spcBef>
              <a:spcAft>
                <a:spcPts val="1200"/>
              </a:spcAft>
              <a:buNone/>
            </a:pPr>
            <a:r>
              <a:t/>
            </a:r>
            <a:endParaRPr/>
          </a:p>
        </p:txBody>
      </p:sp>
      <p:pic>
        <p:nvPicPr>
          <p:cNvPr id="82" name="Google Shape;82;p17"/>
          <p:cNvPicPr preferRelativeResize="0"/>
          <p:nvPr/>
        </p:nvPicPr>
        <p:blipFill>
          <a:blip r:embed="rId3">
            <a:alphaModFix/>
          </a:blip>
          <a:stretch>
            <a:fillRect/>
          </a:stretch>
        </p:blipFill>
        <p:spPr>
          <a:xfrm>
            <a:off x="2762987" y="2674325"/>
            <a:ext cx="3618025" cy="2341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Minería de Datos - Clustering</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b="1" lang="es-419" sz="1600">
                <a:solidFill>
                  <a:schemeClr val="dk1"/>
                </a:solidFill>
              </a:rPr>
              <a:t>Técnica:</a:t>
            </a:r>
            <a:r>
              <a:rPr lang="es-419" sz="1600">
                <a:solidFill>
                  <a:schemeClr val="dk1"/>
                </a:solidFill>
              </a:rPr>
              <a:t> K-Means (k=3 según Método del Codo).</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Hallazgo: El Cluster 0 ("Cluster de Oro"):</a:t>
            </a:r>
            <a:endParaRPr b="1" sz="1600">
              <a:solidFill>
                <a:schemeClr val="dk1"/>
              </a:solidFill>
            </a:endParaRPr>
          </a:p>
          <a:p>
            <a:pPr indent="-330200" lvl="1" marL="914400" rtl="0" algn="l">
              <a:spcBef>
                <a:spcPts val="0"/>
              </a:spcBef>
              <a:spcAft>
                <a:spcPts val="0"/>
              </a:spcAft>
              <a:buClr>
                <a:schemeClr val="dk1"/>
              </a:buClr>
              <a:buSzPts val="1600"/>
              <a:buChar char="○"/>
            </a:pPr>
            <a:r>
              <a:rPr b="1" lang="es-419" sz="1600">
                <a:solidFill>
                  <a:schemeClr val="dk1"/>
                </a:solidFill>
              </a:rPr>
              <a:t>Saldo Promedio:</a:t>
            </a:r>
            <a:r>
              <a:rPr lang="es-419" sz="1600">
                <a:solidFill>
                  <a:schemeClr val="dk1"/>
                </a:solidFill>
              </a:rPr>
              <a:t> €1.556 (El más alto).</a:t>
            </a:r>
            <a:endParaRPr sz="1600">
              <a:solidFill>
                <a:schemeClr val="dk1"/>
              </a:solidFill>
            </a:endParaRPr>
          </a:p>
          <a:p>
            <a:pPr indent="-330200" lvl="1" marL="914400" rtl="0" algn="l">
              <a:spcBef>
                <a:spcPts val="0"/>
              </a:spcBef>
              <a:spcAft>
                <a:spcPts val="0"/>
              </a:spcAft>
              <a:buClr>
                <a:schemeClr val="dk1"/>
              </a:buClr>
              <a:buSzPts val="1600"/>
              <a:buChar char="○"/>
            </a:pPr>
            <a:r>
              <a:rPr b="1" lang="es-419" sz="1600">
                <a:solidFill>
                  <a:schemeClr val="dk1"/>
                </a:solidFill>
              </a:rPr>
              <a:t>Tasa de Conversión:</a:t>
            </a:r>
            <a:r>
              <a:rPr lang="es-419" sz="1600">
                <a:solidFill>
                  <a:schemeClr val="dk1"/>
                </a:solidFill>
              </a:rPr>
              <a:t> </a:t>
            </a:r>
            <a:r>
              <a:rPr b="1" lang="es-419" sz="1600">
                <a:solidFill>
                  <a:schemeClr val="dk1"/>
                </a:solidFill>
              </a:rPr>
              <a:t>23%</a:t>
            </a:r>
            <a:r>
              <a:rPr lang="es-419" sz="1600">
                <a:solidFill>
                  <a:schemeClr val="dk1"/>
                </a:solidFill>
              </a:rPr>
              <a:t> (vs 5% del Cluster 1).</a:t>
            </a:r>
            <a:endParaRPr sz="1600"/>
          </a:p>
        </p:txBody>
      </p:sp>
      <p:graphicFrame>
        <p:nvGraphicFramePr>
          <p:cNvPr id="89" name="Google Shape;89;p18"/>
          <p:cNvGraphicFramePr/>
          <p:nvPr/>
        </p:nvGraphicFramePr>
        <p:xfrm>
          <a:off x="4727350" y="3030063"/>
          <a:ext cx="3000000" cy="3000000"/>
        </p:xfrm>
        <a:graphic>
          <a:graphicData uri="http://schemas.openxmlformats.org/drawingml/2006/table">
            <a:tbl>
              <a:tblPr>
                <a:noFill/>
                <a:tableStyleId>{7F2E42CC-CD0D-4433-912B-76053FA0896B}</a:tableStyleId>
              </a:tblPr>
              <a:tblGrid>
                <a:gridCol w="430350"/>
                <a:gridCol w="562775"/>
                <a:gridCol w="706225"/>
                <a:gridCol w="617950"/>
                <a:gridCol w="562775"/>
                <a:gridCol w="507600"/>
                <a:gridCol w="717275"/>
              </a:tblGrid>
              <a:tr h="323325">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b="1" lang="es-419" sz="700"/>
                        <a:t>age</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b="1" lang="es-419" sz="700"/>
                        <a:t>balance</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b="1" lang="es-419" sz="700"/>
                        <a:t>duration</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b="1" lang="es-419" sz="700"/>
                        <a:t>campaign</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b="1" lang="es-419" sz="700"/>
                        <a:t>target</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b="1" lang="es-419" sz="700"/>
                        <a:t>count clients</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r>
              <a:tr h="323325">
                <a:tc>
                  <a:txBody>
                    <a:bodyPr/>
                    <a:lstStyle/>
                    <a:p>
                      <a:pPr indent="0" lvl="0" marL="0" rtl="0" algn="l">
                        <a:lnSpc>
                          <a:spcPct val="115000"/>
                        </a:lnSpc>
                        <a:spcBef>
                          <a:spcPts val="0"/>
                        </a:spcBef>
                        <a:spcAft>
                          <a:spcPts val="0"/>
                        </a:spcAft>
                        <a:buNone/>
                      </a:pPr>
                      <a:r>
                        <a:rPr b="1" lang="es-419" sz="700"/>
                        <a:t>Cluster</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57200">
                <a:tc>
                  <a:txBody>
                    <a:bodyPr/>
                    <a:lstStyle/>
                    <a:p>
                      <a:pPr indent="0" lvl="0" marL="0" rtl="0" algn="r">
                        <a:lnSpc>
                          <a:spcPct val="115000"/>
                        </a:lnSpc>
                        <a:spcBef>
                          <a:spcPts val="0"/>
                        </a:spcBef>
                        <a:spcAft>
                          <a:spcPts val="0"/>
                        </a:spcAft>
                        <a:buNone/>
                      </a:pPr>
                      <a:r>
                        <a:rPr b="1" lang="es-419" sz="700"/>
                        <a:t>0</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r">
                        <a:lnSpc>
                          <a:spcPct val="115000"/>
                        </a:lnSpc>
                        <a:spcBef>
                          <a:spcPts val="0"/>
                        </a:spcBef>
                        <a:spcAft>
                          <a:spcPts val="0"/>
                        </a:spcAft>
                        <a:buNone/>
                      </a:pPr>
                      <a:r>
                        <a:rPr lang="es-419" sz="700"/>
                        <a:t>40,950703</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1.556,688348</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260,032098</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2,055959</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0,230620</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8.256</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57200">
                <a:tc>
                  <a:txBody>
                    <a:bodyPr/>
                    <a:lstStyle/>
                    <a:p>
                      <a:pPr indent="0" lvl="0" marL="0" rtl="0" algn="r">
                        <a:lnSpc>
                          <a:spcPct val="115000"/>
                        </a:lnSpc>
                        <a:spcBef>
                          <a:spcPts val="0"/>
                        </a:spcBef>
                        <a:spcAft>
                          <a:spcPts val="0"/>
                        </a:spcAft>
                        <a:buNone/>
                      </a:pPr>
                      <a:r>
                        <a:rPr b="1" lang="es-419" sz="700"/>
                        <a:t>1</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r">
                        <a:lnSpc>
                          <a:spcPct val="115000"/>
                        </a:lnSpc>
                        <a:spcBef>
                          <a:spcPts val="0"/>
                        </a:spcBef>
                        <a:spcAft>
                          <a:spcPts val="0"/>
                        </a:spcAft>
                        <a:buNone/>
                      </a:pPr>
                      <a:r>
                        <a:rPr lang="es-419" sz="700"/>
                        <a:t>39,821217</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1.138,385162</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257,025976</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2,693702</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0,055441</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16.053</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57200">
                <a:tc>
                  <a:txBody>
                    <a:bodyPr/>
                    <a:lstStyle/>
                    <a:p>
                      <a:pPr indent="0" lvl="0" marL="0" rtl="0" algn="r">
                        <a:lnSpc>
                          <a:spcPct val="115000"/>
                        </a:lnSpc>
                        <a:spcBef>
                          <a:spcPts val="0"/>
                        </a:spcBef>
                        <a:spcAft>
                          <a:spcPts val="0"/>
                        </a:spcAft>
                        <a:buNone/>
                      </a:pPr>
                      <a:r>
                        <a:rPr b="1" lang="es-419" sz="700"/>
                        <a:t>2</a:t>
                      </a:r>
                      <a:endParaRPr b="1"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r">
                        <a:lnSpc>
                          <a:spcPct val="115000"/>
                        </a:lnSpc>
                        <a:spcBef>
                          <a:spcPts val="0"/>
                        </a:spcBef>
                        <a:spcAft>
                          <a:spcPts val="0"/>
                        </a:spcAft>
                        <a:buNone/>
                      </a:pPr>
                      <a:r>
                        <a:rPr lang="es-419" sz="700"/>
                        <a:t>41,786815</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1.457,428284</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258,298153</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3,097311</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0,119367</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419" sz="700"/>
                        <a:t>20.902</a:t>
                      </a:r>
                      <a:endParaRPr sz="7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90" name="Google Shape;90;p18"/>
          <p:cNvPicPr preferRelativeResize="0"/>
          <p:nvPr/>
        </p:nvPicPr>
        <p:blipFill>
          <a:blip r:embed="rId3">
            <a:alphaModFix/>
          </a:blip>
          <a:stretch>
            <a:fillRect/>
          </a:stretch>
        </p:blipFill>
        <p:spPr>
          <a:xfrm>
            <a:off x="311699" y="2453325"/>
            <a:ext cx="3974526" cy="25717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Minería de Datos - Supervisado</a:t>
            </a:r>
            <a:endParaRPr/>
          </a:p>
        </p:txBody>
      </p:sp>
      <p:sp>
        <p:nvSpPr>
          <p:cNvPr id="96" name="Google Shape;96;p19"/>
          <p:cNvSpPr txBox="1"/>
          <p:nvPr>
            <p:ph idx="1" type="body"/>
          </p:nvPr>
        </p:nvSpPr>
        <p:spPr>
          <a:xfrm>
            <a:off x="311700" y="1152475"/>
            <a:ext cx="4398300" cy="34164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Clr>
                <a:schemeClr val="dk1"/>
              </a:buClr>
              <a:buSzPts val="1600"/>
              <a:buChar char="●"/>
            </a:pPr>
            <a:r>
              <a:rPr b="1" lang="es-419" sz="1600">
                <a:solidFill>
                  <a:schemeClr val="dk1"/>
                </a:solidFill>
              </a:rPr>
              <a:t>Resultados (ROC-AUC):</a:t>
            </a:r>
            <a:endParaRPr b="1" sz="1600">
              <a:solidFill>
                <a:schemeClr val="dk1"/>
              </a:solidFill>
            </a:endParaRPr>
          </a:p>
          <a:p>
            <a:pPr indent="-330200" lvl="1" marL="914400" rtl="0" algn="l">
              <a:spcBef>
                <a:spcPts val="0"/>
              </a:spcBef>
              <a:spcAft>
                <a:spcPts val="0"/>
              </a:spcAft>
              <a:buClr>
                <a:schemeClr val="dk1"/>
              </a:buClr>
              <a:buSzPts val="1600"/>
              <a:buChar char="○"/>
            </a:pPr>
            <a:r>
              <a:rPr b="1" lang="es-419" sz="1600">
                <a:solidFill>
                  <a:schemeClr val="dk1"/>
                </a:solidFill>
              </a:rPr>
              <a:t>Random Forest: 0.9250</a:t>
            </a:r>
            <a:r>
              <a:rPr lang="es-419" sz="1600">
                <a:solidFill>
                  <a:schemeClr val="dk1"/>
                </a:solidFill>
              </a:rPr>
              <a:t> (Ganador).</a:t>
            </a:r>
            <a:endParaRPr sz="1600">
              <a:solidFill>
                <a:schemeClr val="dk1"/>
              </a:solidFill>
            </a:endParaRPr>
          </a:p>
          <a:p>
            <a:pPr indent="-330200" lvl="1" marL="914400" rtl="0" algn="l">
              <a:spcBef>
                <a:spcPts val="0"/>
              </a:spcBef>
              <a:spcAft>
                <a:spcPts val="0"/>
              </a:spcAft>
              <a:buClr>
                <a:schemeClr val="dk1"/>
              </a:buClr>
              <a:buSzPts val="1600"/>
              <a:buChar char="○"/>
            </a:pPr>
            <a:r>
              <a:rPr lang="es-419" sz="1600">
                <a:solidFill>
                  <a:schemeClr val="dk1"/>
                </a:solidFill>
              </a:rPr>
              <a:t>GAM: 0.9121.</a:t>
            </a:r>
            <a:endParaRPr sz="1600">
              <a:solidFill>
                <a:schemeClr val="dk1"/>
              </a:solidFill>
            </a:endParaRPr>
          </a:p>
          <a:p>
            <a:pPr indent="-330200" lvl="1" marL="914400" rtl="0" algn="l">
              <a:spcBef>
                <a:spcPts val="0"/>
              </a:spcBef>
              <a:spcAft>
                <a:spcPts val="0"/>
              </a:spcAft>
              <a:buClr>
                <a:schemeClr val="dk1"/>
              </a:buClr>
              <a:buSzPts val="1600"/>
              <a:buChar char="○"/>
            </a:pPr>
            <a:r>
              <a:rPr lang="es-419" sz="1600">
                <a:solidFill>
                  <a:schemeClr val="dk1"/>
                </a:solidFill>
              </a:rPr>
              <a:t>Logística: 0.8949.</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Interpretación del Modelo Ganador:</a:t>
            </a:r>
            <a:endParaRPr b="1" sz="1600">
              <a:solidFill>
                <a:schemeClr val="dk1"/>
              </a:solidFill>
            </a:endParaRPr>
          </a:p>
          <a:p>
            <a:pPr indent="-330200" lvl="1" marL="914400" rtl="0" algn="l">
              <a:spcBef>
                <a:spcPts val="0"/>
              </a:spcBef>
              <a:spcAft>
                <a:spcPts val="0"/>
              </a:spcAft>
              <a:buClr>
                <a:schemeClr val="dk1"/>
              </a:buClr>
              <a:buSzPts val="1600"/>
              <a:buChar char="○"/>
            </a:pPr>
            <a:r>
              <a:rPr lang="es-419" sz="1600">
                <a:solidFill>
                  <a:schemeClr val="dk1"/>
                </a:solidFill>
              </a:rPr>
              <a:t>Las variables más influyentes son </a:t>
            </a:r>
            <a:r>
              <a:rPr b="1" lang="es-419" sz="1600">
                <a:solidFill>
                  <a:schemeClr val="dk1"/>
                </a:solidFill>
              </a:rPr>
              <a:t>duration </a:t>
            </a:r>
            <a:r>
              <a:rPr lang="es-419" sz="1600">
                <a:solidFill>
                  <a:schemeClr val="dk1"/>
                </a:solidFill>
              </a:rPr>
              <a:t>(duración llamada) y </a:t>
            </a:r>
            <a:r>
              <a:rPr b="1" lang="es-419" sz="1600">
                <a:solidFill>
                  <a:schemeClr val="dk1"/>
                </a:solidFill>
              </a:rPr>
              <a:t>balance </a:t>
            </a:r>
            <a:r>
              <a:rPr lang="es-419" sz="1600">
                <a:solidFill>
                  <a:schemeClr val="dk1"/>
                </a:solidFill>
              </a:rPr>
              <a:t>(saldo).</a:t>
            </a:r>
            <a:endParaRPr sz="1600">
              <a:solidFill>
                <a:schemeClr val="dk1"/>
              </a:solidFill>
            </a:endParaRPr>
          </a:p>
          <a:p>
            <a:pPr indent="-330200" lvl="1" marL="914400" rtl="0" algn="l">
              <a:spcBef>
                <a:spcPts val="0"/>
              </a:spcBef>
              <a:spcAft>
                <a:spcPts val="0"/>
              </a:spcAft>
              <a:buClr>
                <a:schemeClr val="dk1"/>
              </a:buClr>
              <a:buSzPts val="1600"/>
              <a:buChar char="○"/>
            </a:pPr>
            <a:r>
              <a:rPr lang="es-419" sz="1600">
                <a:solidFill>
                  <a:schemeClr val="dk1"/>
                </a:solidFill>
              </a:rPr>
              <a:t>Esto valida la coherencia del modelo con la lógica bancaria.</a:t>
            </a:r>
            <a:endParaRPr b="1" sz="2100">
              <a:solidFill>
                <a:schemeClr val="dk1"/>
              </a:solidFill>
            </a:endParaRPr>
          </a:p>
        </p:txBody>
      </p:sp>
      <p:pic>
        <p:nvPicPr>
          <p:cNvPr id="97" name="Google Shape;97;p19"/>
          <p:cNvPicPr preferRelativeResize="0"/>
          <p:nvPr/>
        </p:nvPicPr>
        <p:blipFill>
          <a:blip r:embed="rId3">
            <a:alphaModFix/>
          </a:blip>
          <a:stretch>
            <a:fillRect/>
          </a:stretch>
        </p:blipFill>
        <p:spPr>
          <a:xfrm>
            <a:off x="4811400" y="1663487"/>
            <a:ext cx="4174925" cy="23943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Evaluación y Conocimiento</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Clr>
                <a:schemeClr val="dk1"/>
              </a:buClr>
              <a:buSzPts val="1600"/>
              <a:buChar char="●"/>
            </a:pPr>
            <a:r>
              <a:rPr b="1" lang="es-419" sz="1600">
                <a:solidFill>
                  <a:schemeClr val="dk1"/>
                </a:solidFill>
              </a:rPr>
              <a:t>Conclusión Técnica:</a:t>
            </a:r>
            <a:r>
              <a:rPr lang="es-419" sz="1600">
                <a:solidFill>
                  <a:schemeClr val="dk1"/>
                </a:solidFill>
              </a:rPr>
              <a:t> Random Forest es el modelo más robusto para generalizar.</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Estrategia de Negocio Propuesta:</a:t>
            </a:r>
            <a:endParaRPr b="1" sz="1600">
              <a:solidFill>
                <a:schemeClr val="dk1"/>
              </a:solidFill>
            </a:endParaRPr>
          </a:p>
          <a:p>
            <a:pPr indent="-330200" lvl="1" marL="914400" rtl="0" algn="l">
              <a:spcBef>
                <a:spcPts val="0"/>
              </a:spcBef>
              <a:spcAft>
                <a:spcPts val="0"/>
              </a:spcAft>
              <a:buClr>
                <a:schemeClr val="dk1"/>
              </a:buClr>
              <a:buSzPts val="1600"/>
              <a:buChar char="○"/>
            </a:pPr>
            <a:r>
              <a:rPr b="1" lang="es-419" sz="1600">
                <a:solidFill>
                  <a:schemeClr val="dk1"/>
                </a:solidFill>
              </a:rPr>
              <a:t>Filtro 1:</a:t>
            </a:r>
            <a:r>
              <a:rPr lang="es-419" sz="1600">
                <a:solidFill>
                  <a:schemeClr val="dk1"/>
                </a:solidFill>
              </a:rPr>
              <a:t> Seleccionar clientes del </a:t>
            </a:r>
            <a:r>
              <a:rPr b="1" lang="es-419" sz="1600">
                <a:solidFill>
                  <a:schemeClr val="dk1"/>
                </a:solidFill>
              </a:rPr>
              <a:t>Cluster 0</a:t>
            </a:r>
            <a:r>
              <a:rPr lang="es-419" sz="1600">
                <a:solidFill>
                  <a:schemeClr val="dk1"/>
                </a:solidFill>
              </a:rPr>
              <a:t> (Alto valor).</a:t>
            </a:r>
            <a:endParaRPr sz="1600">
              <a:solidFill>
                <a:schemeClr val="dk1"/>
              </a:solidFill>
            </a:endParaRPr>
          </a:p>
          <a:p>
            <a:pPr indent="-330200" lvl="1" marL="914400" rtl="0" algn="l">
              <a:spcBef>
                <a:spcPts val="0"/>
              </a:spcBef>
              <a:spcAft>
                <a:spcPts val="0"/>
              </a:spcAft>
              <a:buClr>
                <a:schemeClr val="dk1"/>
              </a:buClr>
              <a:buSzPts val="1600"/>
              <a:buChar char="○"/>
            </a:pPr>
            <a:r>
              <a:rPr b="1" lang="es-419" sz="1600">
                <a:solidFill>
                  <a:schemeClr val="dk1"/>
                </a:solidFill>
              </a:rPr>
              <a:t>Filtro 2:</a:t>
            </a:r>
            <a:r>
              <a:rPr lang="es-419" sz="1600">
                <a:solidFill>
                  <a:schemeClr val="dk1"/>
                </a:solidFill>
              </a:rPr>
              <a:t> Priorizar según probabilidad del </a:t>
            </a:r>
            <a:r>
              <a:rPr b="1" lang="es-419" sz="1600">
                <a:solidFill>
                  <a:schemeClr val="dk1"/>
                </a:solidFill>
              </a:rPr>
              <a:t>Random Forest</a:t>
            </a:r>
            <a:r>
              <a:rPr lang="es-419" sz="1600">
                <a:solidFill>
                  <a:schemeClr val="dk1"/>
                </a:solidFill>
              </a:rPr>
              <a:t>.</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Impacto:</a:t>
            </a:r>
            <a:r>
              <a:rPr lang="es-419" sz="1600">
                <a:solidFill>
                  <a:schemeClr val="dk1"/>
                </a:solidFill>
              </a:rPr>
              <a:t> Maximización de eficiencia y reducción de costos.</a:t>
            </a:r>
            <a:endParaRPr sz="1600">
              <a:solidFill>
                <a:schemeClr val="dk1"/>
              </a:solidFill>
            </a:endParaRPr>
          </a:p>
          <a:p>
            <a:pPr indent="-330200" lvl="0" marL="457200" rtl="0" algn="l">
              <a:spcBef>
                <a:spcPts val="0"/>
              </a:spcBef>
              <a:spcAft>
                <a:spcPts val="0"/>
              </a:spcAft>
              <a:buClr>
                <a:schemeClr val="dk1"/>
              </a:buClr>
              <a:buSzPts val="1600"/>
              <a:buChar char="●"/>
            </a:pPr>
            <a:r>
              <a:rPr b="1" lang="es-419" sz="1600">
                <a:solidFill>
                  <a:schemeClr val="dk1"/>
                </a:solidFill>
              </a:rPr>
              <a:t>Código:</a:t>
            </a:r>
            <a:r>
              <a:rPr lang="es-419" sz="1600">
                <a:solidFill>
                  <a:schemeClr val="dk1"/>
                </a:solidFill>
              </a:rPr>
              <a:t> Disponible en repositorio GIT (Mencionar esto suma puntos).</a:t>
            </a:r>
            <a:endParaRPr sz="2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